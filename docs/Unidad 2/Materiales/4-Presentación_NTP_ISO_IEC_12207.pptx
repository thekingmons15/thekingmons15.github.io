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NTP/ISO/IEC 12207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Procesos del Ciclo de Vida del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1.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dirty="0"/>
              <a:t>• Norma </a:t>
            </a:r>
            <a:r>
              <a:rPr dirty="0" err="1"/>
              <a:t>internacional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define </a:t>
            </a:r>
            <a:r>
              <a:rPr dirty="0" err="1"/>
              <a:t>procesos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vida</a:t>
            </a:r>
            <a:r>
              <a:rPr dirty="0"/>
              <a:t> del software.</a:t>
            </a:r>
          </a:p>
          <a:p>
            <a:pPr>
              <a:defRPr sz="2400"/>
            </a:pPr>
            <a:r>
              <a:rPr dirty="0"/>
              <a:t>Describe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adquisición</a:t>
            </a:r>
            <a:r>
              <a:rPr dirty="0"/>
              <a:t>, </a:t>
            </a:r>
            <a:r>
              <a:rPr dirty="0" err="1"/>
              <a:t>suministro</a:t>
            </a:r>
            <a:r>
              <a:rPr dirty="0"/>
              <a:t>, </a:t>
            </a:r>
            <a:r>
              <a:rPr dirty="0" err="1"/>
              <a:t>desarrollo</a:t>
            </a:r>
            <a:r>
              <a:rPr dirty="0"/>
              <a:t>, </a:t>
            </a:r>
            <a:r>
              <a:rPr dirty="0" err="1"/>
              <a:t>operación</a:t>
            </a:r>
            <a:r>
              <a:rPr dirty="0"/>
              <a:t> y </a:t>
            </a:r>
            <a:r>
              <a:rPr dirty="0" err="1"/>
              <a:t>mantenimiento</a:t>
            </a:r>
            <a:r>
              <a:rPr dirty="0"/>
              <a:t>.</a:t>
            </a:r>
            <a:endParaRPr lang="es-EC" dirty="0"/>
          </a:p>
          <a:p>
            <a:r>
              <a:rPr lang="es-EC" sz="2800" dirty="0"/>
              <a:t>Es complementaria a la norma ISO/IEC 15504 (SPICE).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2. Objetivos de la Norma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Proporcionar</a:t>
            </a:r>
            <a:r>
              <a:rPr dirty="0"/>
              <a:t> un </a:t>
            </a:r>
            <a:r>
              <a:rPr dirty="0" err="1"/>
              <a:t>marco</a:t>
            </a:r>
            <a:r>
              <a:rPr dirty="0"/>
              <a:t> </a:t>
            </a:r>
            <a:r>
              <a:rPr dirty="0" err="1"/>
              <a:t>estructurado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desarrollo</a:t>
            </a:r>
            <a:r>
              <a:rPr dirty="0"/>
              <a:t> de software.</a:t>
            </a:r>
          </a:p>
          <a:p>
            <a:pPr>
              <a:defRPr sz="2400"/>
            </a:pPr>
            <a:r>
              <a:rPr dirty="0" err="1"/>
              <a:t>Facilitar</a:t>
            </a:r>
            <a:r>
              <a:rPr dirty="0"/>
              <a:t> la </a:t>
            </a:r>
            <a:r>
              <a:rPr dirty="0" err="1"/>
              <a:t>gestión</a:t>
            </a:r>
            <a:r>
              <a:rPr dirty="0"/>
              <a:t>, </a:t>
            </a:r>
            <a:r>
              <a:rPr dirty="0" err="1"/>
              <a:t>mejora</a:t>
            </a:r>
            <a:r>
              <a:rPr dirty="0"/>
              <a:t> y </a:t>
            </a:r>
            <a:r>
              <a:rPr dirty="0" err="1"/>
              <a:t>aseguramiento</a:t>
            </a:r>
            <a:r>
              <a:rPr dirty="0"/>
              <a:t> de la </a:t>
            </a:r>
            <a:r>
              <a:rPr dirty="0" err="1"/>
              <a:t>calidad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 err="1"/>
              <a:t>Establecer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</a:t>
            </a:r>
            <a:r>
              <a:rPr dirty="0" err="1"/>
              <a:t>comunes</a:t>
            </a:r>
            <a:r>
              <a:rPr dirty="0"/>
              <a:t> entre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proveedores</a:t>
            </a:r>
            <a:r>
              <a:rPr dirty="0"/>
              <a:t> y </a:t>
            </a:r>
            <a:r>
              <a:rPr dirty="0" err="1"/>
              <a:t>desarrolladores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3. Estructura de la Norma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sz="2800" dirty="0"/>
              <a:t>La norma agrupa los procesos en </a:t>
            </a:r>
            <a:r>
              <a:rPr lang="es-EC" sz="2800" b="1" dirty="0"/>
              <a:t>tres grandes categorías</a:t>
            </a:r>
            <a:r>
              <a:rPr lang="es-EC" sz="2800" dirty="0"/>
              <a:t>:</a:t>
            </a:r>
          </a:p>
          <a:p>
            <a:pPr lvl="1"/>
            <a:r>
              <a:rPr lang="es-EC" sz="2400" b="1" dirty="0"/>
              <a:t>Procesos principales.</a:t>
            </a:r>
            <a:endParaRPr lang="es-EC" sz="2400" dirty="0"/>
          </a:p>
          <a:p>
            <a:pPr lvl="1"/>
            <a:r>
              <a:rPr lang="es-EC" sz="2400" b="1" dirty="0"/>
              <a:t>Procesos de apoyo.</a:t>
            </a:r>
            <a:endParaRPr lang="es-EC" sz="2400" dirty="0"/>
          </a:p>
          <a:p>
            <a:pPr lvl="1"/>
            <a:r>
              <a:rPr lang="es-EC" sz="2400" b="1" dirty="0"/>
              <a:t>Procesos organizativos.</a:t>
            </a:r>
            <a:endParaRPr lang="es-EC" sz="2400" dirty="0"/>
          </a:p>
          <a:p>
            <a:r>
              <a:rPr lang="es-EC" sz="2800" dirty="0"/>
              <a:t>Cubre todas las fases desde la </a:t>
            </a:r>
            <a:r>
              <a:rPr lang="es-EC" sz="2800" b="1" dirty="0"/>
              <a:t>conceptualización hasta el retiro del software.</a:t>
            </a:r>
            <a:endParaRPr lang="es-EC" sz="2800" dirty="0"/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4. Ciclo de Vida del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lang="es-EC" sz="2400" b="1" dirty="0"/>
              <a:t>1. Adquisición:</a:t>
            </a:r>
            <a:r>
              <a:rPr lang="es-EC" sz="2400" dirty="0"/>
              <a:t> Define los requisitos y contratos del software a desarrollar.</a:t>
            </a:r>
            <a:br>
              <a:rPr lang="es-EC" sz="2400" dirty="0"/>
            </a:br>
            <a:r>
              <a:rPr lang="es-EC" sz="2400" b="1" dirty="0"/>
              <a:t>2. Suministro:</a:t>
            </a:r>
            <a:r>
              <a:rPr lang="es-EC" sz="2400" dirty="0"/>
              <a:t> Asegura que el proveedor cumpla con las condiciones establecidas.</a:t>
            </a:r>
            <a:br>
              <a:rPr lang="es-EC" sz="2400" dirty="0"/>
            </a:br>
            <a:r>
              <a:rPr lang="es-EC" sz="2400" b="1" dirty="0"/>
              <a:t>3. Desarrollo:</a:t>
            </a:r>
            <a:r>
              <a:rPr lang="es-EC" sz="2400" dirty="0"/>
              <a:t> Incluye análisis, diseño, codificación, integración, prueba e instalación.</a:t>
            </a:r>
            <a:br>
              <a:rPr lang="es-EC" sz="2400" dirty="0"/>
            </a:br>
            <a:r>
              <a:rPr lang="es-EC" sz="2400" b="1" dirty="0"/>
              <a:t>4. Operación:</a:t>
            </a:r>
            <a:r>
              <a:rPr lang="es-EC" sz="2400" dirty="0"/>
              <a:t> Controla el uso efectivo del software en producción.</a:t>
            </a:r>
            <a:br>
              <a:rPr lang="es-EC" sz="2400" dirty="0"/>
            </a:br>
            <a:r>
              <a:rPr lang="es-EC" sz="2400" b="1" dirty="0"/>
              <a:t>5. Mantenimiento:</a:t>
            </a:r>
            <a:r>
              <a:rPr lang="es-EC" sz="2400" dirty="0"/>
              <a:t> Modifica o mejora el software según necesidades o errores detectados.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0D962-26C5-3CC1-1DB8-24792C9A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Procesos de Apoyo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E92A9B-B775-C9E8-7F4E-128C1794B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Complementan los procesos principales y aseguran su calidad.</a:t>
            </a:r>
            <a:br>
              <a:rPr lang="es-ES" dirty="0"/>
            </a:br>
            <a:r>
              <a:rPr lang="es-ES" b="1" dirty="0"/>
              <a:t>Incluyen:</a:t>
            </a:r>
            <a:endParaRPr lang="es-ES" dirty="0"/>
          </a:p>
          <a:p>
            <a:pPr lvl="1"/>
            <a:r>
              <a:rPr lang="es-ES" b="1" dirty="0"/>
              <a:t>Documentación:</a:t>
            </a:r>
            <a:r>
              <a:rPr lang="es-ES" dirty="0"/>
              <a:t> Generación y control de documentos técnicos.</a:t>
            </a:r>
          </a:p>
          <a:p>
            <a:pPr lvl="1"/>
            <a:r>
              <a:rPr lang="es-ES" b="1" dirty="0"/>
              <a:t>Gestión de configuración:</a:t>
            </a:r>
            <a:r>
              <a:rPr lang="es-ES" dirty="0"/>
              <a:t> Control de versiones y cambios.</a:t>
            </a:r>
          </a:p>
          <a:p>
            <a:pPr lvl="1"/>
            <a:r>
              <a:rPr lang="es-ES" b="1" dirty="0"/>
              <a:t>Aseguramiento de la calidad:</a:t>
            </a:r>
            <a:r>
              <a:rPr lang="es-ES" dirty="0"/>
              <a:t> Cumplimiento de normas y estándares.</a:t>
            </a:r>
          </a:p>
          <a:p>
            <a:pPr lvl="1"/>
            <a:r>
              <a:rPr lang="es-ES" b="1" dirty="0"/>
              <a:t>Verificación:</a:t>
            </a:r>
            <a:r>
              <a:rPr lang="es-ES" dirty="0"/>
              <a:t> Comprobación de que el producto cumple con los requisitos.</a:t>
            </a:r>
          </a:p>
          <a:p>
            <a:pPr lvl="1"/>
            <a:r>
              <a:rPr lang="es-ES" b="1" dirty="0"/>
              <a:t>Validación:</a:t>
            </a:r>
            <a:r>
              <a:rPr lang="es-ES" dirty="0"/>
              <a:t> Confirmación de que el software satisface las necesidades del usuario.</a:t>
            </a:r>
          </a:p>
          <a:p>
            <a:pPr lvl="1"/>
            <a:r>
              <a:rPr lang="es-ES" b="1" dirty="0"/>
              <a:t>Auditoría:</a:t>
            </a:r>
            <a:r>
              <a:rPr lang="es-ES" dirty="0"/>
              <a:t> Revisión independiente del proceso y resultados.</a:t>
            </a:r>
          </a:p>
          <a:p>
            <a:pPr lvl="1"/>
            <a:r>
              <a:rPr lang="es-ES" b="1" dirty="0"/>
              <a:t>Gestión de problemas:</a:t>
            </a:r>
            <a:r>
              <a:rPr lang="es-ES" dirty="0"/>
              <a:t> Registro, seguimiento y resolución de incidencias.</a:t>
            </a:r>
          </a:p>
        </p:txBody>
      </p:sp>
    </p:spTree>
    <p:extLst>
      <p:ext uri="{BB962C8B-B14F-4D97-AF65-F5344CB8AC3E}">
        <p14:creationId xmlns:p14="http://schemas.microsoft.com/office/powerpoint/2010/main" val="4671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57892-456E-84BD-DE94-3B0AA851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Procesos Organizativos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0D66D4-D7C0-E742-377F-8608F4D5B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Se aplican a nivel de toda la organización.</a:t>
            </a:r>
            <a:br>
              <a:rPr lang="es-ES" dirty="0"/>
            </a:br>
            <a:r>
              <a:rPr lang="es-ES" b="1" dirty="0"/>
              <a:t>Incluyen:</a:t>
            </a:r>
            <a:endParaRPr lang="es-ES" dirty="0"/>
          </a:p>
          <a:p>
            <a:r>
              <a:rPr lang="es-ES" b="1" dirty="0"/>
              <a:t>Gestión:</a:t>
            </a:r>
            <a:r>
              <a:rPr lang="es-ES" dirty="0"/>
              <a:t> Planificación y supervisión de proyectos.</a:t>
            </a:r>
          </a:p>
          <a:p>
            <a:r>
              <a:rPr lang="es-ES" b="1" dirty="0"/>
              <a:t>Infraestructura:</a:t>
            </a:r>
            <a:r>
              <a:rPr lang="es-ES" dirty="0"/>
              <a:t> Definición de entornos de desarrollo y soporte.</a:t>
            </a:r>
          </a:p>
          <a:p>
            <a:r>
              <a:rPr lang="es-ES" b="1" dirty="0"/>
              <a:t>Mejora de procesos:</a:t>
            </a:r>
            <a:r>
              <a:rPr lang="es-ES" dirty="0"/>
              <a:t> Evaluación continua para optimizar los métodos de trabajo.</a:t>
            </a:r>
          </a:p>
          <a:p>
            <a:r>
              <a:rPr lang="es-ES" b="1" dirty="0"/>
              <a:t>Formación:</a:t>
            </a:r>
            <a:r>
              <a:rPr lang="es-ES" dirty="0"/>
              <a:t> Capacitación técnica y de gestión para el personal involucrado.</a:t>
            </a:r>
          </a:p>
          <a:p>
            <a:r>
              <a:rPr lang="es-ES" b="1" dirty="0"/>
              <a:t>Gestión de recursos humanos:</a:t>
            </a:r>
            <a:r>
              <a:rPr lang="es-ES" dirty="0"/>
              <a:t> Asignación y desarrollo de competencias del personal.</a:t>
            </a:r>
          </a:p>
        </p:txBody>
      </p:sp>
    </p:spTree>
    <p:extLst>
      <p:ext uri="{BB962C8B-B14F-4D97-AF65-F5344CB8AC3E}">
        <p14:creationId xmlns:p14="http://schemas.microsoft.com/office/powerpoint/2010/main" val="420285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28C6B-FAC5-ED63-2AE4-3B14CD1A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Ejemplo Aplicativo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95004-C47C-E5BD-5CB4-97B75CA2A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b="1" dirty="0"/>
              <a:t>Empresa:</a:t>
            </a:r>
            <a:r>
              <a:rPr lang="es-ES" dirty="0"/>
              <a:t> </a:t>
            </a:r>
            <a:r>
              <a:rPr lang="es-ES" i="1" dirty="0" err="1"/>
              <a:t>TecnoSoft</a:t>
            </a:r>
            <a:r>
              <a:rPr lang="es-ES" i="1" dirty="0"/>
              <a:t> S.A.</a:t>
            </a:r>
            <a:br>
              <a:rPr lang="es-ES" dirty="0"/>
            </a:br>
            <a:r>
              <a:rPr lang="es-ES" b="1" dirty="0"/>
              <a:t>Proyecto:</a:t>
            </a:r>
            <a:r>
              <a:rPr lang="es-ES" dirty="0"/>
              <a:t> Desarrollo de una plataforma web de gestión académica.</a:t>
            </a:r>
            <a:br>
              <a:rPr lang="es-ES" dirty="0"/>
            </a:br>
            <a:r>
              <a:rPr lang="es-ES" b="1" dirty="0"/>
              <a:t>Aplicación de la norma ISO/IEC 12207:</a:t>
            </a:r>
            <a:endParaRPr lang="es-ES" dirty="0"/>
          </a:p>
          <a:p>
            <a:r>
              <a:rPr lang="es-ES" b="1" dirty="0"/>
              <a:t>Proceso principal:</a:t>
            </a:r>
            <a:r>
              <a:rPr lang="es-ES" dirty="0"/>
              <a:t> Desarrollo → fases de análisis, diseño, programación y pruebas automatizadas.</a:t>
            </a:r>
          </a:p>
          <a:p>
            <a:r>
              <a:rPr lang="es-ES" b="1" dirty="0"/>
              <a:t>Proceso de apoyo:</a:t>
            </a:r>
            <a:r>
              <a:rPr lang="es-ES" dirty="0"/>
              <a:t> Aseguramiento de calidad y verificación mediante pruebas unitarias y de integración.</a:t>
            </a:r>
          </a:p>
          <a:p>
            <a:r>
              <a:rPr lang="es-ES" b="1" dirty="0"/>
              <a:t>Proceso organizativo:</a:t>
            </a:r>
            <a:r>
              <a:rPr lang="es-ES" dirty="0"/>
              <a:t> Mejora continua → capacitación en metodologías ágiles y control de versiones con Git.</a:t>
            </a:r>
          </a:p>
          <a:p>
            <a:pPr marL="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30974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2CC5ED-53D1-2E06-1449-51F628EC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 - Detalle por Proceso</a:t>
            </a:r>
          </a:p>
        </p:txBody>
      </p:sp>
      <p:pic>
        <p:nvPicPr>
          <p:cNvPr id="15" name="Marcador de contenido 1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AE8C3076-882A-1A2A-6A06-3BB6958D9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410366"/>
            <a:ext cx="8178799" cy="292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4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5. Relación con otras Normas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Compatible con ISO/IEC 15504 (SPICE), ISO/IEC 15288, CMMI e ITIL.</a:t>
            </a:r>
          </a:p>
          <a:p>
            <a:pPr>
              <a:defRPr sz="2400"/>
            </a:pPr>
            <a:r>
              <a:t>• Base para la gestión de calidad y auditorías de 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6. Beneficios de su Implementación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Claridad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roles y </a:t>
            </a:r>
            <a:r>
              <a:rPr dirty="0" err="1"/>
              <a:t>responsabilidades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 err="1"/>
              <a:t>Mejora</a:t>
            </a:r>
            <a:r>
              <a:rPr dirty="0"/>
              <a:t> de la </a:t>
            </a:r>
            <a:r>
              <a:rPr dirty="0" err="1"/>
              <a:t>calidad</a:t>
            </a:r>
            <a:r>
              <a:rPr dirty="0"/>
              <a:t> del software.</a:t>
            </a:r>
          </a:p>
          <a:p>
            <a:pPr>
              <a:defRPr sz="2400"/>
            </a:pPr>
            <a:r>
              <a:rPr dirty="0" err="1"/>
              <a:t>Reducción</a:t>
            </a:r>
            <a:r>
              <a:rPr dirty="0"/>
              <a:t> de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proyectos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 err="1"/>
              <a:t>Facilita</a:t>
            </a:r>
            <a:r>
              <a:rPr dirty="0"/>
              <a:t> </a:t>
            </a:r>
            <a:r>
              <a:rPr dirty="0" err="1"/>
              <a:t>cumplimiento</a:t>
            </a:r>
            <a:r>
              <a:rPr dirty="0"/>
              <a:t> </a:t>
            </a:r>
            <a:r>
              <a:rPr dirty="0" err="1"/>
              <a:t>normativo</a:t>
            </a:r>
            <a:r>
              <a:rPr dirty="0"/>
              <a:t> y contractual.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7. Aplicaciones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Contratos entre gobiernos y empresas.</a:t>
            </a:r>
          </a:p>
          <a:p>
            <a:pPr>
              <a:defRPr sz="2400"/>
            </a:pPr>
            <a:r>
              <a:t>• Proyectos en sectores como finanzas, salud, defensa y educación.</a:t>
            </a:r>
          </a:p>
          <a:p>
            <a:pPr>
              <a:defRPr sz="2400"/>
            </a:pPr>
            <a:r>
              <a:t>• Proyectos de gran escala que requieren procesos estandarizados.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67F"/>
                </a:solidFill>
              </a:defRPr>
            </a:pPr>
            <a:r>
              <a:t>8.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La NTP/ISO/IEC 12207 proporciona estructura y calidad en la gestión del ciclo de vida del software.</a:t>
            </a:r>
          </a:p>
          <a:p>
            <a:pPr>
              <a:defRPr sz="2400"/>
            </a:pPr>
            <a:r>
              <a:t>• Es esencial para proyectos eficientes y sostenibles en desarrollo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601</Words>
  <Application>Microsoft Office PowerPoint</Application>
  <PresentationFormat>Presentación en pantalla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NTP/ISO/IEC 12207</vt:lpstr>
      <vt:lpstr>1. Introducción</vt:lpstr>
      <vt:lpstr>2. Objetivos de la Norma</vt:lpstr>
      <vt:lpstr>3. Estructura de la Norma</vt:lpstr>
      <vt:lpstr>4. Ciclo de Vida del Software</vt:lpstr>
      <vt:lpstr>Procesos de Apoyo</vt:lpstr>
      <vt:lpstr>Procesos Organizativos</vt:lpstr>
      <vt:lpstr>Ejemplo Aplicativo</vt:lpstr>
      <vt:lpstr>Ejemplo - Detalle por Proceso</vt:lpstr>
      <vt:lpstr>5. Relación con otras Normas</vt:lpstr>
      <vt:lpstr>6. Beneficios de su Implementación</vt:lpstr>
      <vt:lpstr>7. Aplicaciones Prácticas</vt:lpstr>
      <vt:lpstr>8. 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4</cp:revision>
  <dcterms:created xsi:type="dcterms:W3CDTF">2013-01-27T09:14:16Z</dcterms:created>
  <dcterms:modified xsi:type="dcterms:W3CDTF">2025-10-22T14:38:39Z</dcterms:modified>
  <cp:category/>
</cp:coreProperties>
</file>