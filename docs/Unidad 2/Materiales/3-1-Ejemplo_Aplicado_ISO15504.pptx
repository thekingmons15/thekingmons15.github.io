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Aplicado - SoftAndes S.A.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Empresa: SoftAndes S.A.</a:t>
            </a:r>
          </a:p>
          <a:p>
            <a:r>
              <a:t>Sector: Desarrollo de software educativo.</a:t>
            </a:r>
          </a:p>
          <a:p>
            <a:r>
              <a:t>Problema: Retrasos en proyectos y alta tasa de defectos.</a:t>
            </a:r>
          </a:p>
          <a:p>
            <a:r>
              <a:t>Objetivo: Evaluar los procesos de Planificación de proyectos y Verificación y Validación (V&amp;V) mediante la norma ISO/IEC 15504.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1 – Preparación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, </a:t>
            </a:r>
            <a:r>
              <a:rPr dirty="0" err="1"/>
              <a:t>proyectos</a:t>
            </a:r>
            <a:r>
              <a:rPr dirty="0"/>
              <a:t> y </a:t>
            </a:r>
            <a:r>
              <a:rPr dirty="0" err="1"/>
              <a:t>equipos</a:t>
            </a:r>
            <a:r>
              <a:rPr dirty="0"/>
              <a:t> a </a:t>
            </a:r>
            <a:r>
              <a:rPr dirty="0" err="1"/>
              <a:t>evaluar</a:t>
            </a:r>
            <a:r>
              <a:rPr dirty="0"/>
              <a:t>.</a:t>
            </a:r>
          </a:p>
          <a:p>
            <a:r>
              <a:rPr dirty="0" err="1"/>
              <a:t>Acciones</a:t>
            </a:r>
            <a:r>
              <a:rPr dirty="0"/>
              <a:t>:</a:t>
            </a:r>
          </a:p>
          <a:p>
            <a:pPr lvl="1"/>
            <a:r>
              <a:rPr dirty="0" err="1"/>
              <a:t>Reunión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con </a:t>
            </a:r>
            <a:r>
              <a:rPr dirty="0" err="1"/>
              <a:t>dirección</a:t>
            </a:r>
            <a:r>
              <a:rPr dirty="0"/>
              <a:t> y PMO.</a:t>
            </a:r>
          </a:p>
          <a:p>
            <a:pPr lvl="1"/>
            <a:r>
              <a:rPr dirty="0" err="1"/>
              <a:t>Selección</a:t>
            </a:r>
            <a:r>
              <a:rPr dirty="0"/>
              <a:t> de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Planificación</a:t>
            </a:r>
            <a:r>
              <a:rPr dirty="0"/>
              <a:t> y V&amp;V.</a:t>
            </a:r>
          </a:p>
          <a:p>
            <a:pPr lvl="1"/>
            <a:r>
              <a:rPr dirty="0" err="1"/>
              <a:t>Designación</a:t>
            </a:r>
            <a:r>
              <a:rPr dirty="0"/>
              <a:t> de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evaluador</a:t>
            </a:r>
            <a:r>
              <a:rPr dirty="0"/>
              <a:t> y </a:t>
            </a:r>
            <a:r>
              <a:rPr dirty="0" err="1"/>
              <a:t>cronograma</a:t>
            </a:r>
            <a:r>
              <a:rPr dirty="0"/>
              <a:t>.</a:t>
            </a:r>
          </a:p>
          <a:p>
            <a:pPr lvl="1"/>
            <a:r>
              <a:rPr dirty="0" err="1"/>
              <a:t>Entregable</a:t>
            </a:r>
            <a:r>
              <a:rPr dirty="0"/>
              <a:t>: Plan de </a:t>
            </a:r>
            <a:r>
              <a:rPr dirty="0" err="1"/>
              <a:t>evaluación</a:t>
            </a:r>
            <a:r>
              <a:rPr dirty="0"/>
              <a:t> con </a:t>
            </a:r>
            <a:r>
              <a:rPr dirty="0" err="1"/>
              <a:t>alcance</a:t>
            </a:r>
            <a:r>
              <a:rPr dirty="0"/>
              <a:t>, </a:t>
            </a:r>
            <a:r>
              <a:rPr dirty="0" err="1"/>
              <a:t>evidencias</a:t>
            </a:r>
            <a:r>
              <a:rPr dirty="0"/>
              <a:t> </a:t>
            </a:r>
            <a:r>
              <a:rPr dirty="0" err="1"/>
              <a:t>requeridas</a:t>
            </a:r>
            <a:r>
              <a:rPr dirty="0"/>
              <a:t> y </a:t>
            </a:r>
            <a:r>
              <a:rPr dirty="0" err="1"/>
              <a:t>responsabilidades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2 – Selección de Procesos y Criterios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Mapear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internos</a:t>
            </a:r>
            <a:r>
              <a:rPr dirty="0"/>
              <a:t>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definidos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SPICE.</a:t>
            </a:r>
          </a:p>
          <a:p>
            <a:r>
              <a:rPr dirty="0" err="1"/>
              <a:t>Acciones</a:t>
            </a:r>
            <a:r>
              <a:rPr dirty="0"/>
              <a:t>:</a:t>
            </a:r>
          </a:p>
          <a:p>
            <a:pPr lvl="1"/>
            <a:r>
              <a:rPr dirty="0" err="1"/>
              <a:t>Relación</a:t>
            </a:r>
            <a:r>
              <a:rPr dirty="0"/>
              <a:t> de </a:t>
            </a:r>
            <a:r>
              <a:rPr dirty="0" err="1"/>
              <a:t>actividades</a:t>
            </a:r>
            <a:r>
              <a:rPr dirty="0"/>
              <a:t> </a:t>
            </a:r>
            <a:r>
              <a:rPr dirty="0" err="1"/>
              <a:t>internas</a:t>
            </a:r>
            <a:r>
              <a:rPr dirty="0"/>
              <a:t> con </a:t>
            </a:r>
            <a:r>
              <a:rPr dirty="0" err="1"/>
              <a:t>procesos</a:t>
            </a:r>
            <a:r>
              <a:rPr dirty="0"/>
              <a:t> ISO 15504.</a:t>
            </a:r>
          </a:p>
          <a:p>
            <a:pPr lvl="1"/>
            <a:r>
              <a:rPr dirty="0" err="1"/>
              <a:t>Definición</a:t>
            </a:r>
            <a:r>
              <a:rPr dirty="0"/>
              <a:t> de </a:t>
            </a:r>
            <a:r>
              <a:rPr dirty="0" err="1"/>
              <a:t>atributos</a:t>
            </a:r>
            <a:r>
              <a:rPr dirty="0"/>
              <a:t> de </a:t>
            </a:r>
            <a:r>
              <a:rPr dirty="0" err="1"/>
              <a:t>proceso</a:t>
            </a:r>
            <a:r>
              <a:rPr dirty="0"/>
              <a:t>: </a:t>
            </a:r>
            <a:r>
              <a:rPr dirty="0" err="1"/>
              <a:t>desempeño</a:t>
            </a:r>
            <a:r>
              <a:rPr dirty="0"/>
              <a:t>, </a:t>
            </a:r>
            <a:r>
              <a:rPr dirty="0" err="1"/>
              <a:t>gestión</a:t>
            </a:r>
            <a:r>
              <a:rPr dirty="0"/>
              <a:t>, </a:t>
            </a:r>
            <a:r>
              <a:rPr dirty="0" err="1"/>
              <a:t>medición</a:t>
            </a:r>
            <a:r>
              <a:rPr dirty="0"/>
              <a:t>, control.</a:t>
            </a:r>
          </a:p>
          <a:p>
            <a:pPr lvl="1"/>
            <a:r>
              <a:rPr dirty="0" err="1"/>
              <a:t>Entregable</a:t>
            </a:r>
            <a:r>
              <a:rPr dirty="0"/>
              <a:t>: </a:t>
            </a: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↔ </a:t>
            </a:r>
            <a:r>
              <a:rPr dirty="0" err="1"/>
              <a:t>atributos</a:t>
            </a:r>
            <a:r>
              <a:rPr dirty="0"/>
              <a:t> ↔ </a:t>
            </a:r>
            <a:r>
              <a:rPr dirty="0" err="1"/>
              <a:t>evidencias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3 – Recolección de Evidencias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 err="1"/>
              <a:t>Objetivo</a:t>
            </a:r>
            <a:r>
              <a:rPr sz="2800" dirty="0"/>
              <a:t>: </a:t>
            </a:r>
            <a:r>
              <a:rPr sz="2800" dirty="0" err="1"/>
              <a:t>Obtener</a:t>
            </a:r>
            <a:r>
              <a:rPr sz="2800" dirty="0"/>
              <a:t> </a:t>
            </a:r>
            <a:r>
              <a:rPr sz="2800" dirty="0" err="1"/>
              <a:t>información</a:t>
            </a:r>
            <a:r>
              <a:rPr sz="2800" dirty="0"/>
              <a:t> </a:t>
            </a:r>
            <a:r>
              <a:rPr sz="2800" dirty="0" err="1"/>
              <a:t>que</a:t>
            </a:r>
            <a:r>
              <a:rPr sz="2800" dirty="0"/>
              <a:t> </a:t>
            </a:r>
            <a:r>
              <a:rPr sz="2800" dirty="0" err="1"/>
              <a:t>respalde</a:t>
            </a:r>
            <a:r>
              <a:rPr sz="2800" dirty="0"/>
              <a:t> la </a:t>
            </a:r>
            <a:r>
              <a:rPr sz="2800" dirty="0" err="1"/>
              <a:t>evaluación</a:t>
            </a:r>
            <a:r>
              <a:rPr sz="2800" dirty="0"/>
              <a:t>.</a:t>
            </a:r>
          </a:p>
          <a:p>
            <a:r>
              <a:rPr sz="2800" dirty="0"/>
              <a:t>Fuentes de </a:t>
            </a:r>
            <a:r>
              <a:rPr sz="2800" dirty="0" err="1"/>
              <a:t>evidencia</a:t>
            </a:r>
            <a:r>
              <a:rPr sz="2800" dirty="0"/>
              <a:t>:</a:t>
            </a:r>
          </a:p>
          <a:p>
            <a:pPr lvl="1"/>
            <a:r>
              <a:rPr sz="2400" dirty="0" err="1"/>
              <a:t>Documentos</a:t>
            </a:r>
            <a:r>
              <a:rPr sz="2400" dirty="0"/>
              <a:t>: planes, </a:t>
            </a:r>
            <a:r>
              <a:rPr sz="2400" dirty="0" err="1"/>
              <a:t>cronogramas</a:t>
            </a:r>
            <a:r>
              <a:rPr sz="2400" dirty="0"/>
              <a:t>, checklists.</a:t>
            </a:r>
          </a:p>
          <a:p>
            <a:pPr lvl="1"/>
            <a:r>
              <a:rPr sz="2400" dirty="0" err="1"/>
              <a:t>Métricas</a:t>
            </a:r>
            <a:r>
              <a:rPr sz="2400" dirty="0"/>
              <a:t>: </a:t>
            </a:r>
            <a:r>
              <a:rPr sz="2400" dirty="0" err="1"/>
              <a:t>defectos</a:t>
            </a:r>
            <a:r>
              <a:rPr sz="2400" dirty="0"/>
              <a:t>, </a:t>
            </a:r>
            <a:r>
              <a:rPr sz="2400" dirty="0" err="1"/>
              <a:t>productividad</a:t>
            </a:r>
            <a:r>
              <a:rPr sz="2400" dirty="0"/>
              <a:t>, </a:t>
            </a:r>
            <a:r>
              <a:rPr sz="2400" dirty="0" err="1"/>
              <a:t>cumplimiento</a:t>
            </a:r>
            <a:r>
              <a:rPr sz="2400" dirty="0"/>
              <a:t> de </a:t>
            </a:r>
            <a:r>
              <a:rPr sz="2400" dirty="0" err="1"/>
              <a:t>plazos</a:t>
            </a:r>
            <a:r>
              <a:rPr sz="2400" dirty="0"/>
              <a:t>.</a:t>
            </a:r>
          </a:p>
          <a:p>
            <a:pPr lvl="1"/>
            <a:r>
              <a:rPr sz="2400" dirty="0" err="1"/>
              <a:t>Entrevistas</a:t>
            </a:r>
            <a:r>
              <a:rPr sz="2400" dirty="0"/>
              <a:t>: PM, QA, </a:t>
            </a:r>
            <a:r>
              <a:rPr sz="2400" dirty="0" err="1"/>
              <a:t>desarrolladores</a:t>
            </a:r>
            <a:r>
              <a:rPr sz="2400" dirty="0"/>
              <a:t>.</a:t>
            </a:r>
          </a:p>
          <a:p>
            <a:pPr lvl="1"/>
            <a:r>
              <a:rPr sz="2400" dirty="0" err="1"/>
              <a:t>Observaciones</a:t>
            </a:r>
            <a:r>
              <a:rPr sz="2400" dirty="0"/>
              <a:t>: </a:t>
            </a:r>
            <a:r>
              <a:rPr sz="2400" dirty="0" err="1"/>
              <a:t>reuniones</a:t>
            </a:r>
            <a:r>
              <a:rPr sz="2400" dirty="0"/>
              <a:t> y </a:t>
            </a:r>
            <a:r>
              <a:rPr sz="2400" dirty="0" err="1"/>
              <a:t>tableros</a:t>
            </a:r>
            <a:r>
              <a:rPr sz="2400" dirty="0"/>
              <a:t>.</a:t>
            </a:r>
          </a:p>
          <a:p>
            <a:pPr lvl="1"/>
            <a:r>
              <a:rPr sz="2400" dirty="0" err="1"/>
              <a:t>Resultado</a:t>
            </a:r>
            <a:r>
              <a:rPr sz="2400" dirty="0"/>
              <a:t>: </a:t>
            </a:r>
            <a:r>
              <a:rPr sz="2400" dirty="0" err="1"/>
              <a:t>Evidencia</a:t>
            </a:r>
            <a:r>
              <a:rPr sz="2400" dirty="0"/>
              <a:t> </a:t>
            </a:r>
            <a:r>
              <a:rPr sz="2400" dirty="0" err="1"/>
              <a:t>suficiente</a:t>
            </a:r>
            <a:r>
              <a:rPr sz="2400" dirty="0"/>
              <a:t> para </a:t>
            </a:r>
            <a:r>
              <a:rPr sz="2400" dirty="0" err="1"/>
              <a:t>valorar</a:t>
            </a:r>
            <a:r>
              <a:rPr sz="2400" dirty="0"/>
              <a:t> </a:t>
            </a:r>
            <a:r>
              <a:rPr sz="2400" dirty="0" err="1"/>
              <a:t>atributos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4 – Evaluación y Asignación de Niveles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Analizar</a:t>
            </a:r>
            <a:r>
              <a:rPr dirty="0"/>
              <a:t> la </a:t>
            </a:r>
            <a:r>
              <a:rPr dirty="0" err="1"/>
              <a:t>evidencia</a:t>
            </a:r>
            <a:r>
              <a:rPr dirty="0"/>
              <a:t> y </a:t>
            </a:r>
            <a:r>
              <a:rPr dirty="0" err="1"/>
              <a:t>asignar</a:t>
            </a:r>
            <a:r>
              <a:rPr dirty="0"/>
              <a:t> </a:t>
            </a:r>
            <a:r>
              <a:rPr dirty="0" err="1"/>
              <a:t>niveles</a:t>
            </a:r>
            <a:r>
              <a:rPr dirty="0"/>
              <a:t> de </a:t>
            </a:r>
            <a:r>
              <a:rPr dirty="0" err="1"/>
              <a:t>capacidad</a:t>
            </a:r>
            <a:r>
              <a:rPr dirty="0"/>
              <a:t>.</a:t>
            </a:r>
          </a:p>
          <a:p>
            <a:r>
              <a:rPr dirty="0" err="1"/>
              <a:t>Resultados</a:t>
            </a:r>
            <a:r>
              <a:rPr dirty="0"/>
              <a:t>:</a:t>
            </a:r>
          </a:p>
          <a:p>
            <a:pPr lvl="1"/>
            <a:r>
              <a:rPr dirty="0" err="1"/>
              <a:t>Planificación</a:t>
            </a:r>
            <a:r>
              <a:rPr dirty="0"/>
              <a:t>: Nivel 2 –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Gestionado</a:t>
            </a:r>
            <a:r>
              <a:rPr dirty="0"/>
              <a:t>.</a:t>
            </a:r>
          </a:p>
          <a:p>
            <a:pPr lvl="1"/>
            <a:r>
              <a:rPr dirty="0"/>
              <a:t>V&amp;V: Nivel 2 – </a:t>
            </a:r>
            <a:r>
              <a:rPr dirty="0" err="1"/>
              <a:t>Proceso</a:t>
            </a:r>
            <a:r>
              <a:rPr dirty="0"/>
              <a:t> </a:t>
            </a:r>
            <a:r>
              <a:rPr dirty="0" err="1"/>
              <a:t>Gestionado</a:t>
            </a:r>
            <a:r>
              <a:rPr dirty="0"/>
              <a:t>.</a:t>
            </a:r>
          </a:p>
          <a:p>
            <a:pPr lvl="1"/>
            <a:r>
              <a:rPr dirty="0" err="1"/>
              <a:t>Hallazgos</a:t>
            </a:r>
            <a:r>
              <a:rPr dirty="0"/>
              <a:t>: Falta de </a:t>
            </a:r>
            <a:r>
              <a:rPr dirty="0" err="1"/>
              <a:t>documentación</a:t>
            </a:r>
            <a:r>
              <a:rPr dirty="0"/>
              <a:t> </a:t>
            </a:r>
            <a:r>
              <a:rPr dirty="0" err="1"/>
              <a:t>estandarizada</a:t>
            </a:r>
            <a:r>
              <a:rPr dirty="0"/>
              <a:t> y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formales</a:t>
            </a:r>
            <a:r>
              <a:rPr dirty="0"/>
              <a:t>.</a:t>
            </a:r>
          </a:p>
          <a:p>
            <a:pPr lvl="1"/>
            <a:r>
              <a:rPr dirty="0" err="1"/>
              <a:t>Conclusión</a:t>
            </a:r>
            <a:r>
              <a:rPr dirty="0"/>
              <a:t>: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controlados</a:t>
            </a:r>
            <a:r>
              <a:rPr dirty="0"/>
              <a:t> </a:t>
            </a:r>
            <a:r>
              <a:rPr dirty="0" err="1"/>
              <a:t>pero</a:t>
            </a:r>
            <a:r>
              <a:rPr dirty="0"/>
              <a:t> sin base </a:t>
            </a:r>
            <a:r>
              <a:rPr dirty="0" err="1"/>
              <a:t>cuantitativa</a:t>
            </a:r>
            <a:r>
              <a:rPr dirty="0"/>
              <a:t> de </a:t>
            </a:r>
            <a:r>
              <a:rPr dirty="0" err="1"/>
              <a:t>mejora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5 – Informe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845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sz="2800" dirty="0" err="1"/>
              <a:t>Contenido</a:t>
            </a:r>
            <a:r>
              <a:rPr sz="2800" dirty="0"/>
              <a:t> del </a:t>
            </a:r>
            <a:r>
              <a:rPr sz="2800" dirty="0" err="1"/>
              <a:t>informe</a:t>
            </a:r>
            <a:r>
              <a:rPr sz="2800" dirty="0"/>
              <a:t>:</a:t>
            </a:r>
          </a:p>
          <a:p>
            <a:r>
              <a:rPr sz="2800" dirty="0"/>
              <a:t>1. </a:t>
            </a:r>
            <a:r>
              <a:rPr sz="2800" dirty="0" err="1"/>
              <a:t>Resumen</a:t>
            </a:r>
            <a:r>
              <a:rPr sz="2800" dirty="0"/>
              <a:t> de </a:t>
            </a:r>
            <a:r>
              <a:rPr sz="2800" dirty="0" err="1"/>
              <a:t>niveles</a:t>
            </a:r>
            <a:r>
              <a:rPr sz="2800" dirty="0"/>
              <a:t> </a:t>
            </a:r>
            <a:r>
              <a:rPr sz="2800" dirty="0" err="1"/>
              <a:t>alcanzados</a:t>
            </a:r>
            <a:r>
              <a:rPr sz="2800" dirty="0"/>
              <a:t>.</a:t>
            </a:r>
          </a:p>
          <a:p>
            <a:r>
              <a:rPr sz="2800" dirty="0"/>
              <a:t>2. </a:t>
            </a:r>
            <a:r>
              <a:rPr sz="2800" dirty="0" err="1"/>
              <a:t>Evidencias</a:t>
            </a:r>
            <a:r>
              <a:rPr sz="2800" dirty="0"/>
              <a:t> </a:t>
            </a:r>
            <a:r>
              <a:rPr sz="2800" dirty="0" err="1"/>
              <a:t>revisadas</a:t>
            </a:r>
            <a:r>
              <a:rPr sz="2800" dirty="0"/>
              <a:t>.</a:t>
            </a:r>
          </a:p>
          <a:p>
            <a:r>
              <a:rPr sz="2800" dirty="0"/>
              <a:t>3. </a:t>
            </a:r>
            <a:r>
              <a:rPr sz="2800" dirty="0" err="1"/>
              <a:t>Fortalezas</a:t>
            </a:r>
            <a:r>
              <a:rPr sz="2800" dirty="0"/>
              <a:t> y </a:t>
            </a:r>
            <a:r>
              <a:rPr sz="2800" dirty="0" err="1"/>
              <a:t>debilidades</a:t>
            </a:r>
            <a:r>
              <a:rPr sz="2800" dirty="0"/>
              <a:t>.</a:t>
            </a:r>
          </a:p>
          <a:p>
            <a:r>
              <a:rPr sz="2800" dirty="0"/>
              <a:t>4. </a:t>
            </a:r>
            <a:r>
              <a:rPr sz="2800" dirty="0" err="1"/>
              <a:t>Recomendaciones</a:t>
            </a:r>
            <a:r>
              <a:rPr sz="2800" dirty="0"/>
              <a:t> </a:t>
            </a:r>
            <a:r>
              <a:rPr sz="2800" dirty="0" err="1"/>
              <a:t>por</a:t>
            </a:r>
            <a:r>
              <a:rPr sz="2800" dirty="0"/>
              <a:t> </a:t>
            </a:r>
            <a:r>
              <a:rPr sz="2800" dirty="0" err="1"/>
              <a:t>proceso</a:t>
            </a:r>
            <a:r>
              <a:rPr sz="2800" dirty="0"/>
              <a:t>.</a:t>
            </a:r>
          </a:p>
          <a:p>
            <a:r>
              <a:rPr sz="2800" dirty="0" err="1"/>
              <a:t>Ejemplo</a:t>
            </a:r>
            <a:r>
              <a:rPr sz="2800" dirty="0"/>
              <a:t> de </a:t>
            </a:r>
            <a:r>
              <a:rPr sz="2800" dirty="0" err="1"/>
              <a:t>hallazgos</a:t>
            </a:r>
            <a:r>
              <a:rPr sz="2800" dirty="0"/>
              <a:t>:</a:t>
            </a:r>
          </a:p>
          <a:p>
            <a:pPr lvl="1"/>
            <a:r>
              <a:rPr sz="2400" dirty="0" err="1"/>
              <a:t>Documentos</a:t>
            </a:r>
            <a:r>
              <a:rPr sz="2400" dirty="0"/>
              <a:t> de </a:t>
            </a:r>
            <a:r>
              <a:rPr sz="2400" dirty="0" err="1"/>
              <a:t>planificación</a:t>
            </a:r>
            <a:r>
              <a:rPr sz="2400" dirty="0"/>
              <a:t> </a:t>
            </a:r>
            <a:r>
              <a:rPr sz="2400" dirty="0" err="1"/>
              <a:t>incompletos</a:t>
            </a:r>
            <a:r>
              <a:rPr sz="2400" dirty="0"/>
              <a:t>.</a:t>
            </a:r>
          </a:p>
          <a:p>
            <a:pPr lvl="1"/>
            <a:r>
              <a:rPr sz="2400" dirty="0"/>
              <a:t>QA </a:t>
            </a:r>
            <a:r>
              <a:rPr sz="2400" dirty="0" err="1"/>
              <a:t>reactivo</a:t>
            </a:r>
            <a:r>
              <a:rPr sz="2400" dirty="0"/>
              <a:t> sin </a:t>
            </a:r>
            <a:r>
              <a:rPr sz="2400" dirty="0" err="1"/>
              <a:t>auditorías</a:t>
            </a:r>
            <a:r>
              <a:rPr sz="2400" dirty="0"/>
              <a:t> </a:t>
            </a:r>
            <a:r>
              <a:rPr sz="2400" dirty="0" err="1"/>
              <a:t>formales</a:t>
            </a:r>
            <a:r>
              <a:rPr sz="2400" dirty="0"/>
              <a:t>.</a:t>
            </a:r>
          </a:p>
          <a:p>
            <a:pPr lvl="1"/>
            <a:r>
              <a:rPr sz="2400" dirty="0" err="1"/>
              <a:t>Recomendaciones</a:t>
            </a:r>
            <a:r>
              <a:rPr sz="2400" dirty="0"/>
              <a:t>: Crear </a:t>
            </a:r>
            <a:r>
              <a:rPr sz="2400" dirty="0" err="1"/>
              <a:t>plantillas</a:t>
            </a:r>
            <a:r>
              <a:rPr sz="2400" dirty="0"/>
              <a:t> </a:t>
            </a:r>
            <a:r>
              <a:rPr sz="2400" dirty="0" err="1"/>
              <a:t>estándar</a:t>
            </a:r>
            <a:r>
              <a:rPr sz="2400" dirty="0"/>
              <a:t>, </a:t>
            </a:r>
            <a:r>
              <a:rPr sz="2400" dirty="0" err="1"/>
              <a:t>establecer</a:t>
            </a:r>
            <a:r>
              <a:rPr sz="2400" dirty="0"/>
              <a:t> KPIs y </a:t>
            </a:r>
            <a:r>
              <a:rPr sz="2400" dirty="0" err="1"/>
              <a:t>políticas</a:t>
            </a:r>
            <a:r>
              <a:rPr sz="2400" dirty="0"/>
              <a:t> QA.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6 – Plan de Mejora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Acciones</a:t>
            </a:r>
            <a:r>
              <a:rPr dirty="0"/>
              <a:t> </a:t>
            </a:r>
            <a:r>
              <a:rPr dirty="0" err="1"/>
              <a:t>Correctivas</a:t>
            </a:r>
            <a:r>
              <a:rPr dirty="0"/>
              <a:t>:</a:t>
            </a:r>
          </a:p>
          <a:p>
            <a:pPr lvl="1"/>
            <a:r>
              <a:rPr dirty="0"/>
              <a:t>Crear </a:t>
            </a:r>
            <a:r>
              <a:rPr dirty="0" err="1"/>
              <a:t>plantilla</a:t>
            </a:r>
            <a:r>
              <a:rPr dirty="0"/>
              <a:t> de plan de </a:t>
            </a:r>
            <a:r>
              <a:rPr dirty="0" err="1"/>
              <a:t>proyecto</a:t>
            </a:r>
            <a:r>
              <a:rPr dirty="0"/>
              <a:t> – PMO – 30 días – 100% </a:t>
            </a:r>
            <a:r>
              <a:rPr dirty="0" err="1"/>
              <a:t>proyectos</a:t>
            </a:r>
            <a:r>
              <a:rPr dirty="0"/>
              <a:t> con </a:t>
            </a:r>
            <a:r>
              <a:rPr dirty="0" err="1"/>
              <a:t>plantilla</a:t>
            </a:r>
            <a:r>
              <a:rPr dirty="0"/>
              <a:t>.</a:t>
            </a:r>
          </a:p>
          <a:p>
            <a:pPr lvl="1"/>
            <a:r>
              <a:rPr dirty="0" err="1"/>
              <a:t>Definir</a:t>
            </a:r>
            <a:r>
              <a:rPr dirty="0"/>
              <a:t> KPIs de </a:t>
            </a:r>
            <a:r>
              <a:rPr dirty="0" err="1"/>
              <a:t>calidad</a:t>
            </a:r>
            <a:r>
              <a:rPr dirty="0"/>
              <a:t> – QA – 45 días – Dashboard </a:t>
            </a:r>
            <a:r>
              <a:rPr dirty="0" err="1"/>
              <a:t>implementado</a:t>
            </a:r>
            <a:r>
              <a:rPr dirty="0"/>
              <a:t>.</a:t>
            </a:r>
          </a:p>
          <a:p>
            <a:pPr lvl="1"/>
            <a:r>
              <a:rPr dirty="0" err="1"/>
              <a:t>Capacitar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SPICE – RRHH – 60 días – 80% personal </a:t>
            </a:r>
            <a:r>
              <a:rPr dirty="0" err="1"/>
              <a:t>capacitado</a:t>
            </a:r>
            <a:r>
              <a:rPr dirty="0"/>
              <a:t>.</a:t>
            </a:r>
          </a:p>
          <a:p>
            <a:pPr lvl="1"/>
            <a:r>
              <a:rPr dirty="0"/>
              <a:t>Meta: </a:t>
            </a:r>
            <a:r>
              <a:rPr dirty="0" err="1"/>
              <a:t>Formalizar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 para </a:t>
            </a:r>
            <a:r>
              <a:rPr dirty="0" err="1"/>
              <a:t>alcanzar</a:t>
            </a:r>
            <a:r>
              <a:rPr dirty="0"/>
              <a:t> Nivel 3 – </a:t>
            </a:r>
            <a:r>
              <a:rPr dirty="0" err="1"/>
              <a:t>Establecido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 7 – Seguimiento y Re-evaluación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Acciones</a:t>
            </a:r>
            <a:r>
              <a:rPr dirty="0"/>
              <a:t> de </a:t>
            </a:r>
            <a:r>
              <a:rPr dirty="0" err="1"/>
              <a:t>seguimiento</a:t>
            </a:r>
            <a:r>
              <a:rPr dirty="0"/>
              <a:t>:</a:t>
            </a:r>
          </a:p>
          <a:p>
            <a:pPr lvl="1"/>
            <a:r>
              <a:rPr dirty="0" err="1"/>
              <a:t>Monitoreo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 de KPIs.</a:t>
            </a:r>
          </a:p>
          <a:p>
            <a:pPr lvl="1"/>
            <a:r>
              <a:rPr dirty="0" err="1"/>
              <a:t>Revisión</a:t>
            </a:r>
            <a:r>
              <a:rPr dirty="0"/>
              <a:t> trimestral de </a:t>
            </a:r>
            <a:r>
              <a:rPr dirty="0" err="1"/>
              <a:t>cumplimiento</a:t>
            </a:r>
            <a:r>
              <a:rPr dirty="0"/>
              <a:t>.</a:t>
            </a:r>
          </a:p>
          <a:p>
            <a:pPr lvl="1"/>
            <a:r>
              <a:rPr dirty="0"/>
              <a:t>Re-</a:t>
            </a:r>
            <a:r>
              <a:rPr dirty="0" err="1"/>
              <a:t>evaluación</a:t>
            </a:r>
            <a:r>
              <a:rPr dirty="0"/>
              <a:t> a 12 meses.</a:t>
            </a:r>
          </a:p>
          <a:p>
            <a:r>
              <a:rPr dirty="0" err="1"/>
              <a:t>Indicadores</a:t>
            </a:r>
            <a:r>
              <a:rPr dirty="0"/>
              <a:t> de </a:t>
            </a:r>
            <a:r>
              <a:rPr dirty="0" err="1"/>
              <a:t>éxito</a:t>
            </a:r>
            <a:r>
              <a:rPr dirty="0"/>
              <a:t>:</a:t>
            </a:r>
          </a:p>
          <a:p>
            <a:pPr lvl="1"/>
            <a:r>
              <a:rPr dirty="0" err="1"/>
              <a:t>Reducción</a:t>
            </a:r>
            <a:r>
              <a:rPr dirty="0"/>
              <a:t> de </a:t>
            </a:r>
            <a:r>
              <a:rPr dirty="0" err="1"/>
              <a:t>defectos</a:t>
            </a:r>
            <a:r>
              <a:rPr dirty="0"/>
              <a:t> (−25%).</a:t>
            </a:r>
          </a:p>
          <a:p>
            <a:pPr lvl="1"/>
            <a:r>
              <a:rPr dirty="0" err="1"/>
              <a:t>Aumento</a:t>
            </a:r>
            <a:r>
              <a:rPr dirty="0"/>
              <a:t> del </a:t>
            </a:r>
            <a:r>
              <a:rPr dirty="0" err="1"/>
              <a:t>cumplimiento</a:t>
            </a:r>
            <a:r>
              <a:rPr dirty="0"/>
              <a:t> de </a:t>
            </a:r>
            <a:r>
              <a:rPr dirty="0" err="1"/>
              <a:t>entregas</a:t>
            </a:r>
            <a:r>
              <a:rPr dirty="0"/>
              <a:t>.</a:t>
            </a:r>
          </a:p>
          <a:p>
            <a:pPr lvl="1"/>
            <a:r>
              <a:rPr dirty="0"/>
              <a:t>Mayor </a:t>
            </a:r>
            <a:r>
              <a:rPr dirty="0" err="1"/>
              <a:t>cobertura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automatizadas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 Impacto Esperado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Situación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: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reactivos</a:t>
            </a:r>
            <a:r>
              <a:rPr dirty="0"/>
              <a:t> y sin </a:t>
            </a:r>
            <a:r>
              <a:rPr dirty="0" err="1"/>
              <a:t>medición</a:t>
            </a:r>
            <a:r>
              <a:rPr dirty="0"/>
              <a:t> formal.</a:t>
            </a:r>
          </a:p>
          <a:p>
            <a:r>
              <a:rPr dirty="0" err="1"/>
              <a:t>Situación</a:t>
            </a:r>
            <a:r>
              <a:rPr dirty="0"/>
              <a:t> </a:t>
            </a:r>
            <a:r>
              <a:rPr dirty="0" err="1"/>
              <a:t>esperada</a:t>
            </a:r>
            <a:r>
              <a:rPr dirty="0"/>
              <a:t> </a:t>
            </a:r>
            <a:r>
              <a:rPr dirty="0" err="1"/>
              <a:t>tras</a:t>
            </a:r>
            <a:r>
              <a:rPr dirty="0"/>
              <a:t> </a:t>
            </a:r>
            <a:r>
              <a:rPr dirty="0" err="1"/>
              <a:t>mejoras</a:t>
            </a:r>
            <a:r>
              <a:rPr dirty="0"/>
              <a:t>:</a:t>
            </a:r>
          </a:p>
          <a:p>
            <a:pPr lvl="1"/>
            <a:r>
              <a:rPr lang="es-EC" dirty="0"/>
              <a:t>P</a:t>
            </a:r>
            <a:r>
              <a:rPr dirty="0" err="1"/>
              <a:t>rocesos</a:t>
            </a:r>
            <a:r>
              <a:rPr dirty="0"/>
              <a:t> </a:t>
            </a:r>
            <a:r>
              <a:rPr dirty="0" err="1"/>
              <a:t>gestionados</a:t>
            </a:r>
            <a:r>
              <a:rPr dirty="0"/>
              <a:t> y </a:t>
            </a:r>
            <a:r>
              <a:rPr dirty="0" err="1"/>
              <a:t>medibles</a:t>
            </a:r>
            <a:r>
              <a:rPr dirty="0"/>
              <a:t>.</a:t>
            </a:r>
          </a:p>
          <a:p>
            <a:pPr lvl="1"/>
            <a:r>
              <a:rPr dirty="0" err="1"/>
              <a:t>Reducción</a:t>
            </a:r>
            <a:r>
              <a:rPr dirty="0"/>
              <a:t> de </a:t>
            </a:r>
            <a:r>
              <a:rPr dirty="0" err="1"/>
              <a:t>defectos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25%.</a:t>
            </a:r>
          </a:p>
          <a:p>
            <a:pPr lvl="1"/>
            <a:r>
              <a:rPr dirty="0" err="1"/>
              <a:t>Cumplimiento</a:t>
            </a:r>
            <a:r>
              <a:rPr dirty="0"/>
              <a:t> de </a:t>
            </a:r>
            <a:r>
              <a:rPr dirty="0" err="1"/>
              <a:t>plazos</a:t>
            </a:r>
            <a:r>
              <a:rPr dirty="0"/>
              <a:t> &gt;90%.</a:t>
            </a:r>
          </a:p>
          <a:p>
            <a:pPr lvl="1"/>
            <a:r>
              <a:rPr dirty="0"/>
              <a:t>Base </a:t>
            </a:r>
            <a:r>
              <a:rPr dirty="0" err="1"/>
              <a:t>sólida</a:t>
            </a:r>
            <a:r>
              <a:rPr dirty="0"/>
              <a:t> para </a:t>
            </a:r>
            <a:r>
              <a:rPr dirty="0" err="1"/>
              <a:t>certificación</a:t>
            </a:r>
            <a:r>
              <a:rPr dirty="0"/>
              <a:t> SPICE o CMMI Nivel 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 del Ejemplo Aplicado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El </a:t>
            </a:r>
            <a:r>
              <a:rPr dirty="0" err="1"/>
              <a:t>modelo</a:t>
            </a:r>
            <a:r>
              <a:rPr dirty="0"/>
              <a:t> ISO/IEC 15504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medir</a:t>
            </a:r>
            <a:r>
              <a:rPr dirty="0"/>
              <a:t> y </a:t>
            </a:r>
            <a:r>
              <a:rPr dirty="0" err="1"/>
              <a:t>mejorar</a:t>
            </a:r>
            <a:r>
              <a:rPr dirty="0"/>
              <a:t> </a:t>
            </a:r>
            <a:r>
              <a:rPr dirty="0" err="1"/>
              <a:t>objetivamente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.</a:t>
            </a:r>
          </a:p>
          <a:p>
            <a:r>
              <a:rPr dirty="0"/>
              <a:t>La </a:t>
            </a:r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SoftAndes</a:t>
            </a:r>
            <a:r>
              <a:rPr dirty="0"/>
              <a:t> S.A. </a:t>
            </a:r>
            <a:r>
              <a:rPr dirty="0" err="1"/>
              <a:t>demostró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nivel</a:t>
            </a:r>
            <a:r>
              <a:rPr dirty="0"/>
              <a:t> 2 es </a:t>
            </a:r>
            <a:r>
              <a:rPr dirty="0" err="1"/>
              <a:t>alcanzable</a:t>
            </a:r>
            <a:r>
              <a:rPr dirty="0"/>
              <a:t> con </a:t>
            </a:r>
            <a:r>
              <a:rPr dirty="0" err="1"/>
              <a:t>disciplina</a:t>
            </a:r>
            <a:r>
              <a:rPr dirty="0"/>
              <a:t>.</a:t>
            </a:r>
          </a:p>
          <a:p>
            <a:r>
              <a:rPr dirty="0"/>
              <a:t>El plan de </a:t>
            </a:r>
            <a:r>
              <a:rPr dirty="0" err="1"/>
              <a:t>mejora</a:t>
            </a:r>
            <a:r>
              <a:rPr dirty="0"/>
              <a:t> </a:t>
            </a:r>
            <a:r>
              <a:rPr dirty="0" err="1"/>
              <a:t>garantiza</a:t>
            </a:r>
            <a:r>
              <a:rPr dirty="0"/>
              <a:t> </a:t>
            </a:r>
            <a:r>
              <a:rPr dirty="0" err="1"/>
              <a:t>evolución</a:t>
            </a:r>
            <a:r>
              <a:rPr dirty="0"/>
              <a:t> continua </a:t>
            </a:r>
            <a:r>
              <a:rPr dirty="0" err="1"/>
              <a:t>hacia</a:t>
            </a:r>
            <a:r>
              <a:rPr dirty="0"/>
              <a:t> la </a:t>
            </a:r>
            <a:r>
              <a:rPr dirty="0" err="1"/>
              <a:t>madurez</a:t>
            </a:r>
            <a:r>
              <a:rPr dirty="0"/>
              <a:t> de </a:t>
            </a:r>
            <a:r>
              <a:rPr dirty="0" err="1"/>
              <a:t>procesos</a:t>
            </a:r>
            <a:r>
              <a:rPr dirty="0"/>
              <a:t>.</a:t>
            </a:r>
          </a:p>
          <a:p>
            <a:r>
              <a:rPr dirty="0"/>
              <a:t>La </a:t>
            </a:r>
            <a:r>
              <a:rPr dirty="0" err="1"/>
              <a:t>aplicación</a:t>
            </a:r>
            <a:r>
              <a:rPr dirty="0"/>
              <a:t> </a:t>
            </a:r>
            <a:r>
              <a:rPr dirty="0" err="1"/>
              <a:t>práctica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enfoque</a:t>
            </a:r>
            <a:r>
              <a:rPr dirty="0"/>
              <a:t> SPICE </a:t>
            </a:r>
            <a:r>
              <a:rPr dirty="0" err="1"/>
              <a:t>potencia</a:t>
            </a:r>
            <a:r>
              <a:rPr dirty="0"/>
              <a:t> la </a:t>
            </a:r>
            <a:r>
              <a:rPr dirty="0" err="1"/>
              <a:t>calidad</a:t>
            </a:r>
            <a:r>
              <a:rPr dirty="0"/>
              <a:t> y </a:t>
            </a:r>
            <a:r>
              <a:rPr dirty="0" err="1"/>
              <a:t>productividad</a:t>
            </a:r>
            <a:r>
              <a:rPr dirty="0"/>
              <a:t> del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572</Words>
  <Application>Microsoft Office PowerPoint</Application>
  <PresentationFormat>Presentación en pantalla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Caso Aplicado - SoftAndes S.A.</vt:lpstr>
      <vt:lpstr>Etapa 1 – Preparación y Alcance</vt:lpstr>
      <vt:lpstr>Etapa 2 – Selección de Procesos y Criterios</vt:lpstr>
      <vt:lpstr>Etapa 3 – Recolección de Evidencias</vt:lpstr>
      <vt:lpstr>Etapa 4 – Evaluación y Asignación de Niveles</vt:lpstr>
      <vt:lpstr>Etapa 5 – Informe Final</vt:lpstr>
      <vt:lpstr>Etapa 6 – Plan de Mejora</vt:lpstr>
      <vt:lpstr>Etapa 7 – Seguimiento y Re-evaluación</vt:lpstr>
      <vt:lpstr>Resultados e Impacto Esperado</vt:lpstr>
      <vt:lpstr>Conclusión del Ejemplo Aplicado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HUMBERTO MIRANDA REALPE</cp:lastModifiedBy>
  <cp:revision>4</cp:revision>
  <dcterms:created xsi:type="dcterms:W3CDTF">2013-01-27T09:14:16Z</dcterms:created>
  <dcterms:modified xsi:type="dcterms:W3CDTF">2025-10-22T13:34:22Z</dcterms:modified>
  <cp:category/>
</cp:coreProperties>
</file>